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640080"/>
          </a:xfrm>
          <a:prstGeom prst="rect">
            <a:avLst/>
          </a:prstGeom>
          <a:noFill/>
        </p:spPr>
        <p:txBody>
          <a:bodyPr wrap="square">
            <a:spAutoFit/>
          </a:bodyPr>
          <a:lstStyle/>
          <a:p>
            <a:pPr algn="l">
              <a:defRPr sz="2400" b="1">
                <a:solidFill>
                  <a:srgbClr val="1A237E"/>
                </a:solidFill>
                <a:latin typeface="Calibri"/>
              </a:defRPr>
            </a:pPr>
            <a:r>
              <a:t>Claude Code Experience</a:t>
            </a:r>
          </a:p>
        </p:txBody>
      </p:sp>
      <p:sp>
        <p:nvSpPr>
          <p:cNvPr id="4" name="TextBox 3"/>
          <p:cNvSpPr txBox="1"/>
          <p:nvPr/>
        </p:nvSpPr>
        <p:spPr>
          <a:xfrm>
            <a:off x="731520" y="1188720"/>
            <a:ext cx="10058400" cy="5029200"/>
          </a:xfrm>
          <a:prstGeom prst="rect">
            <a:avLst/>
          </a:prstGeom>
          <a:noFill/>
        </p:spPr>
        <p:txBody>
          <a:bodyPr wrap="square">
            <a:spAutoFit/>
          </a:bodyPr>
          <a:lstStyle/>
          <a:p>
            <a:pPr>
              <a:spcBef>
                <a:spcPts val="200"/>
              </a:spcBef>
              <a:spcAft>
                <a:spcPts val="400"/>
              </a:spcAft>
            </a:pPr>
            <a:r>
              <a:rPr sz="1500" b="1">
                <a:solidFill>
                  <a:srgbClr val="333333"/>
                </a:solidFill>
                <a:latin typeface="Calibri"/>
              </a:rPr>
              <a:t>•  Quota: </a:t>
            </a:r>
            <a:r>
              <a:rPr sz="1500" b="0">
                <a:solidFill>
                  <a:srgbClr val="333333"/>
                </a:solidFill>
                <a:latin typeface="Calibri"/>
              </a:rPr>
              <a:t>Opus 4 via Max plan ($200/mo); typical session uses 30–60 tool calls; multi-file edits, model runs, and test suites within a single conversation</a:t>
            </a:r>
          </a:p>
          <a:p>
            <a:pPr>
              <a:spcBef>
                <a:spcPts val="200"/>
              </a:spcBef>
              <a:spcAft>
                <a:spcPts val="400"/>
              </a:spcAft>
            </a:pPr>
            <a:r>
              <a:rPr sz="1500" b="1">
                <a:solidFill>
                  <a:srgbClr val="333333"/>
                </a:solidFill>
                <a:latin typeface="Calibri"/>
              </a:rPr>
              <a:t>•  Environment: </a:t>
            </a:r>
            <a:r>
              <a:rPr sz="1500" b="0">
                <a:solidFill>
                  <a:srgbClr val="333333"/>
                </a:solidFill>
                <a:latin typeface="Calibri"/>
              </a:rPr>
              <a:t>WSL2 Ubuntu + conda (ghim, Python 3.11) + editable install; Claude Code hooks for Telegram notifications (alert bot for milestones, tracker bot for all tool calls); session context files in context/ for cross-session continuity; auto-memory in .claude/projects/ for persistent knowledge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560320"/>
            <a:ext cx="12191695" cy="54864"/>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058400" cy="1097280"/>
          </a:xfrm>
          <a:prstGeom prst="rect">
            <a:avLst/>
          </a:prstGeom>
          <a:noFill/>
        </p:spPr>
        <p:txBody>
          <a:bodyPr wrap="square">
            <a:spAutoFit/>
          </a:bodyPr>
          <a:lstStyle/>
          <a:p>
            <a:pPr algn="ctr">
              <a:defRPr sz="4000" b="1">
                <a:solidFill>
                  <a:srgbClr val="1A237E"/>
                </a:solidFill>
                <a:latin typeface="Calibri"/>
              </a:defRPr>
            </a:pPr>
            <a:r>
              <a:t>GHIM Energy Module</a:t>
            </a:r>
          </a:p>
        </p:txBody>
      </p:sp>
      <p:sp>
        <p:nvSpPr>
          <p:cNvPr id="4" name="TextBox 3"/>
          <p:cNvSpPr txBox="1"/>
          <p:nvPr/>
        </p:nvSpPr>
        <p:spPr>
          <a:xfrm>
            <a:off x="914400" y="2103120"/>
            <a:ext cx="10058400" cy="548640"/>
          </a:xfrm>
          <a:prstGeom prst="rect">
            <a:avLst/>
          </a:prstGeom>
          <a:noFill/>
        </p:spPr>
        <p:txBody>
          <a:bodyPr wrap="square">
            <a:spAutoFit/>
          </a:bodyPr>
          <a:lstStyle/>
          <a:p>
            <a:pPr algn="ctr">
              <a:defRPr sz="1800" b="0">
                <a:solidFill>
                  <a:srgbClr val="757575"/>
                </a:solidFill>
                <a:latin typeface="Calibri"/>
              </a:defRPr>
            </a:pPr>
            <a:r>
              <a:t>A Recursive-Dynamic Energy-Economy Model</a:t>
            </a:r>
          </a:p>
        </p:txBody>
      </p:sp>
      <p:sp>
        <p:nvSpPr>
          <p:cNvPr id="5" name="TextBox 4"/>
          <p:cNvSpPr txBox="1"/>
          <p:nvPr/>
        </p:nvSpPr>
        <p:spPr>
          <a:xfrm>
            <a:off x="914400" y="2926080"/>
            <a:ext cx="10058400" cy="457200"/>
          </a:xfrm>
          <a:prstGeom prst="rect">
            <a:avLst/>
          </a:prstGeom>
          <a:noFill/>
        </p:spPr>
        <p:txBody>
          <a:bodyPr wrap="square">
            <a:spAutoFit/>
          </a:bodyPr>
          <a:lstStyle/>
          <a:p>
            <a:pPr algn="ctr">
              <a:defRPr sz="1600" b="0">
                <a:solidFill>
                  <a:srgbClr val="757575"/>
                </a:solidFill>
                <a:latin typeface="Calibri"/>
              </a:defRPr>
            </a:pPr>
            <a:r>
              <a:t>10 AR6 Regions  ·  2000–2150  ·  5-year timesteps</a:t>
            </a:r>
          </a:p>
        </p:txBody>
      </p:sp>
      <p:sp>
        <p:nvSpPr>
          <p:cNvPr id="6" name="TextBox 5"/>
          <p:cNvSpPr txBox="1"/>
          <p:nvPr/>
        </p:nvSpPr>
        <p:spPr>
          <a:xfrm>
            <a:off x="914400" y="4572000"/>
            <a:ext cx="10058400" cy="457200"/>
          </a:xfrm>
          <a:prstGeom prst="rect">
            <a:avLst/>
          </a:prstGeom>
          <a:noFill/>
        </p:spPr>
        <p:txBody>
          <a:bodyPr wrap="square">
            <a:spAutoFit/>
          </a:bodyPr>
          <a:lstStyle/>
          <a:p>
            <a:pPr algn="ctr">
              <a:defRPr sz="1500" b="0">
                <a:solidFill>
                  <a:srgbClr val="757575"/>
                </a:solidFill>
                <a:latin typeface="Calibri"/>
              </a:defRPr>
            </a:pPr>
            <a:r>
              <a:t>Hyuntae Choi  ·  February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640080"/>
          </a:xfrm>
          <a:prstGeom prst="rect">
            <a:avLst/>
          </a:prstGeom>
          <a:noFill/>
        </p:spPr>
        <p:txBody>
          <a:bodyPr wrap="square">
            <a:spAutoFit/>
          </a:bodyPr>
          <a:lstStyle/>
          <a:p>
            <a:pPr algn="l">
              <a:defRPr sz="2400" b="1">
                <a:solidFill>
                  <a:srgbClr val="1A237E"/>
                </a:solidFill>
                <a:latin typeface="Calibri"/>
              </a:defRPr>
            </a:pPr>
            <a:r>
              <a:t>Motivation &amp; Model Identity</a:t>
            </a:r>
          </a:p>
        </p:txBody>
      </p:sp>
      <p:sp>
        <p:nvSpPr>
          <p:cNvPr id="4" name="TextBox 3"/>
          <p:cNvSpPr txBox="1"/>
          <p:nvPr/>
        </p:nvSpPr>
        <p:spPr>
          <a:xfrm>
            <a:off x="731520" y="1188720"/>
            <a:ext cx="10515600" cy="5029200"/>
          </a:xfrm>
          <a:prstGeom prst="rect">
            <a:avLst/>
          </a:prstGeom>
          <a:noFill/>
        </p:spPr>
        <p:txBody>
          <a:bodyPr wrap="square">
            <a:spAutoFit/>
          </a:bodyPr>
          <a:lstStyle/>
          <a:p>
            <a:pPr>
              <a:spcBef>
                <a:spcPts val="200"/>
              </a:spcBef>
              <a:spcAft>
                <a:spcPts val="400"/>
              </a:spcAft>
            </a:pPr>
            <a:r>
              <a:rPr sz="1400">
                <a:solidFill>
                  <a:srgbClr val="333333"/>
                </a:solidFill>
                <a:latin typeface="Calibri"/>
              </a:rPr>
              <a:t>•  GHIM: independent energy module, not a GCAM fork — own solver, architecture, and codebase</a:t>
            </a:r>
          </a:p>
          <a:p>
            <a:pPr>
              <a:spcBef>
                <a:spcPts val="200"/>
              </a:spcBef>
              <a:spcAft>
                <a:spcPts val="400"/>
              </a:spcAft>
            </a:pPr>
            <a:r>
              <a:rPr sz="1400">
                <a:solidFill>
                  <a:srgbClr val="333333"/>
                </a:solidFill>
                <a:latin typeface="Calibri"/>
              </a:rPr>
              <a:t>•  Python-first for rapid iteration, transparency, and reproducibility</a:t>
            </a:r>
          </a:p>
          <a:p>
            <a:pPr>
              <a:spcBef>
                <a:spcPts val="200"/>
              </a:spcBef>
              <a:spcAft>
                <a:spcPts val="400"/>
              </a:spcAft>
            </a:pPr>
            <a:r>
              <a:rPr sz="1400">
                <a:solidFill>
                  <a:srgbClr val="333333"/>
                </a:solidFill>
                <a:latin typeface="Calibri"/>
              </a:rPr>
              <a:t>•  Leverages GCAM data infrastructure (fossil supply curves, calibration) while redesigning the modeling approach</a:t>
            </a:r>
          </a:p>
          <a:p>
            <a:pPr>
              <a:spcBef>
                <a:spcPts val="200"/>
              </a:spcBef>
              <a:spcAft>
                <a:spcPts val="400"/>
              </a:spcAft>
            </a:pPr>
            <a:r>
              <a:rPr sz="1400">
                <a:solidFill>
                  <a:srgbClr val="333333"/>
                </a:solidFill>
                <a:latin typeface="Calibri"/>
              </a:rPr>
              <a:t>•  Hybrid design: DICE/WITCH macro-economics + GCAM technology detail + MERGE preference factors</a:t>
            </a:r>
          </a:p>
          <a:p>
            <a:pPr>
              <a:spcBef>
                <a:spcPts val="200"/>
              </a:spcBef>
              <a:spcAft>
                <a:spcPts val="400"/>
              </a:spcAft>
            </a:pPr>
            <a:r>
              <a:rPr sz="1400">
                <a:solidFill>
                  <a:srgbClr val="333333"/>
                </a:solidFill>
                <a:latin typeface="Calibri"/>
              </a:rPr>
              <a:t>•  Target: integration into the full GHIM integrated model (energy + land use + water + climate)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640080"/>
          </a:xfrm>
          <a:prstGeom prst="rect">
            <a:avLst/>
          </a:prstGeom>
          <a:noFill/>
        </p:spPr>
        <p:txBody>
          <a:bodyPr wrap="square">
            <a:spAutoFit/>
          </a:bodyPr>
          <a:lstStyle/>
          <a:p>
            <a:pPr algn="l">
              <a:defRPr sz="2400" b="1">
                <a:solidFill>
                  <a:srgbClr val="1A237E"/>
                </a:solidFill>
                <a:latin typeface="Calibri"/>
              </a:defRPr>
            </a:pPr>
            <a:r>
              <a:t>Model Framework — Regions, Periods, Solution Method</a:t>
            </a:r>
          </a:p>
        </p:txBody>
      </p:sp>
      <p:sp>
        <p:nvSpPr>
          <p:cNvPr id="4" name="TextBox 3"/>
          <p:cNvSpPr txBox="1"/>
          <p:nvPr/>
        </p:nvSpPr>
        <p:spPr>
          <a:xfrm>
            <a:off x="731520" y="1097280"/>
            <a:ext cx="5029200" cy="457200"/>
          </a:xfrm>
          <a:prstGeom prst="rect">
            <a:avLst/>
          </a:prstGeom>
          <a:noFill/>
        </p:spPr>
        <p:txBody>
          <a:bodyPr wrap="square">
            <a:spAutoFit/>
          </a:bodyPr>
          <a:lstStyle/>
          <a:p>
            <a:pPr algn="l">
              <a:defRPr sz="1800" b="1">
                <a:solidFill>
                  <a:srgbClr val="2196F3"/>
                </a:solidFill>
                <a:latin typeface="Calibri"/>
              </a:defRPr>
            </a:pPr>
            <a:r>
              <a:t>Current Implementation</a:t>
            </a:r>
          </a:p>
        </p:txBody>
      </p:sp>
      <p:sp>
        <p:nvSpPr>
          <p:cNvPr id="5" name="TextBox 4"/>
          <p:cNvSpPr txBox="1"/>
          <p:nvPr/>
        </p:nvSpPr>
        <p:spPr>
          <a:xfrm>
            <a:off x="731520" y="1554480"/>
            <a:ext cx="5029200" cy="3657600"/>
          </a:xfrm>
          <a:prstGeom prst="rect">
            <a:avLst/>
          </a:prstGeom>
          <a:noFill/>
        </p:spPr>
        <p:txBody>
          <a:bodyPr wrap="square">
            <a:spAutoFit/>
          </a:bodyPr>
          <a:lstStyle/>
          <a:p>
            <a:pPr>
              <a:spcBef>
                <a:spcPts val="200"/>
              </a:spcBef>
              <a:spcAft>
                <a:spcPts val="400"/>
              </a:spcAft>
            </a:pPr>
            <a:r>
              <a:rPr sz="1200" b="1">
                <a:solidFill>
                  <a:srgbClr val="333333"/>
                </a:solidFill>
                <a:latin typeface="Calibri"/>
              </a:rPr>
              <a:t>Regions: </a:t>
            </a:r>
            <a:r>
              <a:rPr sz="1200" b="0">
                <a:solidFill>
                  <a:srgbClr val="333333"/>
                </a:solidFill>
                <a:latin typeface="Calibri"/>
              </a:rPr>
              <a:t>10 AR6 R10 macro-regions (Africa, Asia-Pacific Dev., Eastern Asia, Eurasia, Europe, Latin America, Middle East, North America, SE Asia &amp; dev. Pacific, Southern Asia)</a:t>
            </a:r>
          </a:p>
          <a:p>
            <a:pPr>
              <a:spcBef>
                <a:spcPts val="200"/>
              </a:spcBef>
              <a:spcAft>
                <a:spcPts val="400"/>
              </a:spcAft>
            </a:pPr>
            <a:r>
              <a:rPr sz="1200" b="1">
                <a:solidFill>
                  <a:srgbClr val="333333"/>
                </a:solidFill>
                <a:latin typeface="Calibri"/>
              </a:rPr>
              <a:t>Time horizon: </a:t>
            </a:r>
            <a:r>
              <a:rPr sz="1200" b="0">
                <a:solidFill>
                  <a:srgbClr val="333333"/>
                </a:solidFill>
                <a:latin typeface="Calibri"/>
              </a:rPr>
              <a:t>2000–2150, 5-year timesteps (31 periods)</a:t>
            </a:r>
          </a:p>
          <a:p>
            <a:pPr>
              <a:spcBef>
                <a:spcPts val="200"/>
              </a:spcBef>
              <a:spcAft>
                <a:spcPts val="400"/>
              </a:spcAft>
            </a:pPr>
            <a:r>
              <a:rPr sz="1200" b="1">
                <a:solidFill>
                  <a:srgbClr val="333333"/>
                </a:solidFill>
                <a:latin typeface="Calibri"/>
              </a:rPr>
              <a:t>Calibration: </a:t>
            </a:r>
            <a:r>
              <a:rPr sz="1200" b="0">
                <a:solidFill>
                  <a:srgbClr val="333333"/>
                </a:solidFill>
                <a:latin typeface="Calibri"/>
              </a:rPr>
              <a:t>Historical period 2000–2020 (SSP Historical Reference); model is calibrated at 2020 (TFP, capital stock, technology shares, preference factors)</a:t>
            </a:r>
          </a:p>
          <a:p>
            <a:pPr>
              <a:spcBef>
                <a:spcPts val="200"/>
              </a:spcBef>
              <a:spcAft>
                <a:spcPts val="400"/>
              </a:spcAft>
            </a:pPr>
            <a:r>
              <a:rPr sz="1200" b="1">
                <a:solidFill>
                  <a:srgbClr val="333333"/>
                </a:solidFill>
                <a:latin typeface="Calibri"/>
              </a:rPr>
              <a:t>Projection: </a:t>
            </a:r>
            <a:r>
              <a:rPr sz="1200" b="0">
                <a:solidFill>
                  <a:srgbClr val="333333"/>
                </a:solidFill>
                <a:latin typeface="Calibri"/>
              </a:rPr>
              <a:t>2025–2150 forward-solved with endogenous GDP, trade, technology choice</a:t>
            </a:r>
          </a:p>
          <a:p>
            <a:pPr>
              <a:spcBef>
                <a:spcPts val="200"/>
              </a:spcBef>
              <a:spcAft>
                <a:spcPts val="400"/>
              </a:spcAft>
            </a:pPr>
            <a:r>
              <a:rPr sz="1200" b="1">
                <a:solidFill>
                  <a:srgbClr val="333333"/>
                </a:solidFill>
                <a:latin typeface="Calibri"/>
              </a:rPr>
              <a:t>Solution method: </a:t>
            </a:r>
            <a:r>
              <a:rPr sz="1200" b="0">
                <a:solidFill>
                  <a:srgbClr val="333333"/>
                </a:solidFill>
                <a:latin typeface="Calibri"/>
              </a:rPr>
              <a:t>Recursive-dynamic (period-by-period, myopic expectations) — each period solves given current state without anticipating future prices or policies</a:t>
            </a:r>
          </a:p>
        </p:txBody>
      </p:sp>
      <p:sp>
        <p:nvSpPr>
          <p:cNvPr id="6" name="TextBox 5"/>
          <p:cNvSpPr txBox="1"/>
          <p:nvPr/>
        </p:nvSpPr>
        <p:spPr>
          <a:xfrm>
            <a:off x="6400800" y="1097280"/>
            <a:ext cx="5029200" cy="457200"/>
          </a:xfrm>
          <a:prstGeom prst="rect">
            <a:avLst/>
          </a:prstGeom>
          <a:noFill/>
        </p:spPr>
        <p:txBody>
          <a:bodyPr wrap="square">
            <a:spAutoFit/>
          </a:bodyPr>
          <a:lstStyle/>
          <a:p>
            <a:pPr algn="l">
              <a:defRPr sz="1800" b="1">
                <a:solidFill>
                  <a:srgbClr val="E65100"/>
                </a:solidFill>
                <a:latin typeface="Calibri"/>
              </a:defRPr>
            </a:pPr>
            <a:r>
              <a:t>Improvement Directions</a:t>
            </a:r>
          </a:p>
        </p:txBody>
      </p:sp>
      <p:sp>
        <p:nvSpPr>
          <p:cNvPr id="7" name="TextBox 6"/>
          <p:cNvSpPr txBox="1"/>
          <p:nvPr/>
        </p:nvSpPr>
        <p:spPr>
          <a:xfrm>
            <a:off x="6400800" y="1554480"/>
            <a:ext cx="5303520" cy="4754880"/>
          </a:xfrm>
          <a:prstGeom prst="rect">
            <a:avLst/>
          </a:prstGeom>
          <a:noFill/>
        </p:spPr>
        <p:txBody>
          <a:bodyPr wrap="square">
            <a:spAutoFit/>
          </a:bodyPr>
          <a:lstStyle/>
          <a:p>
            <a:pPr>
              <a:spcBef>
                <a:spcPts val="200"/>
              </a:spcBef>
              <a:spcAft>
                <a:spcPts val="400"/>
              </a:spcAft>
            </a:pPr>
            <a:r>
              <a:rPr sz="1200" b="1">
                <a:solidFill>
                  <a:srgbClr val="333333"/>
                </a:solidFill>
                <a:latin typeface="Calibri"/>
              </a:rPr>
              <a:t>R10 → Country-level: </a:t>
            </a:r>
            <a:r>
              <a:rPr sz="1200" b="0">
                <a:solidFill>
                  <a:srgbClr val="333333"/>
                </a:solidFill>
                <a:latin typeface="Calibri"/>
              </a:rPr>
              <a:t>Current R10 aggregation loses within-region heterogeneity (e.g., India vs. Bangladesh in Southern Asia). Country-level resolution would allow direct calibration to national IEA data and policy analysis at country scale. Requires: country-level SSP data (available), demand calibration, trade matrix expansion.</a:t>
            </a:r>
          </a:p>
          <a:p>
            <a:pPr>
              <a:spcBef>
                <a:spcPts val="200"/>
              </a:spcBef>
              <a:spcAft>
                <a:spcPts val="400"/>
              </a:spcAft>
            </a:pPr>
            <a:r>
              <a:rPr sz="1200" b="1">
                <a:solidFill>
                  <a:srgbClr val="333333"/>
                </a:solidFill>
                <a:latin typeface="Calibri"/>
              </a:rPr>
              <a:t>5-year → 1-year timesteps: </a:t>
            </a:r>
            <a:r>
              <a:rPr sz="1200" b="0">
                <a:solidFill>
                  <a:srgbClr val="333333"/>
                </a:solidFill>
                <a:latin typeface="Calibri"/>
              </a:rPr>
              <a:t>Finer temporal resolution improves: (a) stock turnover realism (15-yr vehicle fleet → 3 period steps vs 15), (b) policy phase-in smoothness, (c) investment timing. Trade-off: 6× more periods, solver runtime scales linearly.</a:t>
            </a:r>
          </a:p>
          <a:p>
            <a:pPr>
              <a:spcBef>
                <a:spcPts val="200"/>
              </a:spcBef>
              <a:spcAft>
                <a:spcPts val="400"/>
              </a:spcAft>
            </a:pPr>
            <a:r>
              <a:rPr sz="1200" b="1">
                <a:solidFill>
                  <a:srgbClr val="333333"/>
                </a:solidFill>
                <a:latin typeface="Calibri"/>
              </a:rPr>
              <a:t>Recursive-dynamic → Foresight: </a:t>
            </a:r>
            <a:r>
              <a:rPr sz="1200" b="0">
                <a:solidFill>
                  <a:srgbClr val="333333"/>
                </a:solidFill>
                <a:latin typeface="Calibri"/>
              </a:rPr>
              <a:t>Current myopic solver cannot optimize over time. Options: (a) Perfect foresight (full intertemporal optimization, computationally expensive), (b) Imperfect / rolling limited foresight (e.g., 20-year lookahead window, re-solve each period) — captures investment anticipation without full optimization. Key benefit: agents can anticipate carbon price ramps and invest in clean tech earlier.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640080"/>
          </a:xfrm>
          <a:prstGeom prst="rect">
            <a:avLst/>
          </a:prstGeom>
          <a:noFill/>
        </p:spPr>
        <p:txBody>
          <a:bodyPr wrap="square">
            <a:spAutoFit/>
          </a:bodyPr>
          <a:lstStyle/>
          <a:p>
            <a:pPr algn="l">
              <a:defRPr sz="2400" b="1">
                <a:solidFill>
                  <a:srgbClr val="1A237E"/>
                </a:solidFill>
                <a:latin typeface="Calibri"/>
              </a:defRPr>
            </a:pPr>
            <a:r>
              <a:t>Economic Core — KLEM Production &amp; General Equilibrium</a:t>
            </a:r>
          </a:p>
        </p:txBody>
      </p:sp>
      <p:sp>
        <p:nvSpPr>
          <p:cNvPr id="4" name="TextBox 3"/>
          <p:cNvSpPr txBox="1"/>
          <p:nvPr/>
        </p:nvSpPr>
        <p:spPr>
          <a:xfrm>
            <a:off x="731520" y="1097280"/>
            <a:ext cx="5029200" cy="457200"/>
          </a:xfrm>
          <a:prstGeom prst="rect">
            <a:avLst/>
          </a:prstGeom>
          <a:noFill/>
        </p:spPr>
        <p:txBody>
          <a:bodyPr wrap="square">
            <a:spAutoFit/>
          </a:bodyPr>
          <a:lstStyle/>
          <a:p>
            <a:pPr algn="l">
              <a:defRPr sz="1500" b="1">
                <a:solidFill>
                  <a:srgbClr val="2196F3"/>
                </a:solidFill>
                <a:latin typeface="Calibri"/>
              </a:defRPr>
            </a:pPr>
            <a:r>
              <a:t>Homogeneous GE with Energy Cost Feedback</a:t>
            </a:r>
          </a:p>
        </p:txBody>
      </p:sp>
      <p:sp>
        <p:nvSpPr>
          <p:cNvPr id="5" name="TextBox 4"/>
          <p:cNvSpPr txBox="1"/>
          <p:nvPr/>
        </p:nvSpPr>
        <p:spPr>
          <a:xfrm>
            <a:off x="731520" y="1554480"/>
            <a:ext cx="5029200" cy="4114800"/>
          </a:xfrm>
          <a:prstGeom prst="rect">
            <a:avLst/>
          </a:prstGeom>
          <a:noFill/>
        </p:spPr>
        <p:txBody>
          <a:bodyPr wrap="square">
            <a:spAutoFit/>
          </a:bodyPr>
          <a:lstStyle/>
          <a:p>
            <a:pPr>
              <a:spcBef>
                <a:spcPts val="200"/>
              </a:spcBef>
              <a:spcAft>
                <a:spcPts val="400"/>
              </a:spcAft>
            </a:pPr>
            <a:r>
              <a:rPr sz="1100" b="1">
                <a:solidFill>
                  <a:srgbClr val="333333"/>
                </a:solidFill>
                <a:latin typeface="Calibri"/>
              </a:rPr>
              <a:t>Production function: </a:t>
            </a:r>
            <a:r>
              <a:rPr sz="1100" b="0">
                <a:solidFill>
                  <a:srgbClr val="333333"/>
                </a:solidFill>
                <a:latin typeface="Calibri"/>
              </a:rPr>
              <a:t>Y = A(t) · K(t)ᵅ · L(t)¹⁻ᵅ  (α = 0.3, Cobb-Douglas)</a:t>
            </a:r>
          </a:p>
          <a:p>
            <a:pPr>
              <a:spcBef>
                <a:spcPts val="200"/>
              </a:spcBef>
              <a:spcAft>
                <a:spcPts val="400"/>
              </a:spcAft>
            </a:pPr>
            <a:r>
              <a:rPr sz="1100" b="1">
                <a:solidFill>
                  <a:srgbClr val="333333"/>
                </a:solidFill>
                <a:latin typeface="Calibri"/>
              </a:rPr>
              <a:t>Single representative agent: </a:t>
            </a:r>
            <a:r>
              <a:rPr sz="1100" b="0">
                <a:solidFill>
                  <a:srgbClr val="333333"/>
                </a:solidFill>
                <a:latin typeface="Calibri"/>
              </a:rPr>
              <a:t>Each region has one aggregate production function — homogeneous general equilibrium, not multi-sector CGE</a:t>
            </a:r>
          </a:p>
          <a:p>
            <a:pPr>
              <a:spcBef>
                <a:spcPts val="200"/>
              </a:spcBef>
              <a:spcAft>
                <a:spcPts val="400"/>
              </a:spcAft>
            </a:pPr>
            <a:r>
              <a:rPr sz="1100" b="1">
                <a:solidFill>
                  <a:srgbClr val="333333"/>
                </a:solidFill>
                <a:latin typeface="Calibri"/>
              </a:rPr>
              <a:t>Energy as a cost: </a:t>
            </a:r>
            <a:r>
              <a:rPr sz="1100" b="0">
                <a:solidFill>
                  <a:srgbClr val="333333"/>
                </a:solidFill>
                <a:latin typeface="Calibri"/>
              </a:rPr>
              <a:t>Net output = Gross output − Energy cost; energy cost = Σ(carrier_demand_EJ × carrier_price_$/GJ)</a:t>
            </a:r>
          </a:p>
          <a:p>
            <a:pPr>
              <a:spcBef>
                <a:spcPts val="200"/>
              </a:spcBef>
              <a:spcAft>
                <a:spcPts val="400"/>
              </a:spcAft>
            </a:pPr>
            <a:r>
              <a:rPr sz="1100" b="1">
                <a:solidFill>
                  <a:srgbClr val="333333"/>
                </a:solidFill>
                <a:latin typeface="Calibri"/>
              </a:rPr>
              <a:t>Capital dynamics: </a:t>
            </a:r>
            <a:r>
              <a:rPr sz="1100" b="0">
                <a:solidFill>
                  <a:srgbClr val="333333"/>
                </a:solidFill>
                <a:latin typeface="Calibri"/>
              </a:rPr>
              <a:t>I = s · Y_net (s=0.22), K(t+1) = (1−δ)⁵ · K(t) + I · 5; energy cost shock → lower net Y → lower I → lower future K → lower future GDP</a:t>
            </a:r>
          </a:p>
          <a:p>
            <a:pPr>
              <a:spcBef>
                <a:spcPts val="200"/>
              </a:spcBef>
              <a:spcAft>
                <a:spcPts val="400"/>
              </a:spcAft>
            </a:pPr>
            <a:r>
              <a:rPr sz="1100" b="1">
                <a:solidFill>
                  <a:srgbClr val="333333"/>
                </a:solidFill>
                <a:latin typeface="Calibri"/>
              </a:rPr>
              <a:t>TFP calibration: </a:t>
            </a:r>
            <a:r>
              <a:rPr sz="1100" b="0">
                <a:solidFill>
                  <a:srgbClr val="333333"/>
                </a:solidFill>
                <a:latin typeface="Calibri"/>
              </a:rPr>
              <a:t>A(t) calibrated from SSP GDP path via backward K solve (2020→2000) then forward calibration (2020→2150). TFP held fixed during projection — GDP deviates from SSP only through energy cost feedback.</a:t>
            </a:r>
          </a:p>
          <a:p>
            <a:pPr>
              <a:spcBef>
                <a:spcPts val="200"/>
              </a:spcBef>
              <a:spcAft>
                <a:spcPts val="400"/>
              </a:spcAft>
            </a:pPr>
            <a:r>
              <a:rPr sz="1100" b="1">
                <a:solidFill>
                  <a:srgbClr val="333333"/>
                </a:solidFill>
                <a:latin typeface="Calibri"/>
              </a:rPr>
              <a:t>KLEM-sector coupling: </a:t>
            </a:r>
            <a:r>
              <a:rPr sz="1100" b="0">
                <a:solidFill>
                  <a:srgbClr val="333333"/>
                </a:solidFill>
                <a:latin typeface="Calibri"/>
              </a:rPr>
              <a:t>KLEM total energy sets the macro envelope; sector demands (industry/buildings/transport) set relative shares; klem_scale = klem_total / sector_sum, clamped to [0.5, 2.0]</a:t>
            </a:r>
          </a:p>
        </p:txBody>
      </p:sp>
      <p:pic>
        <p:nvPicPr>
          <p:cNvPr id="6" name="Picture 5" descr="gdp_trajectory.png"/>
          <p:cNvPicPr>
            <a:picLocks noChangeAspect="1"/>
          </p:cNvPicPr>
          <p:nvPr/>
        </p:nvPicPr>
        <p:blipFill>
          <a:blip r:embed="rId2"/>
          <a:stretch>
            <a:fillRect/>
          </a:stretch>
        </p:blipFill>
        <p:spPr>
          <a:xfrm>
            <a:off x="6217920" y="1097280"/>
            <a:ext cx="5303520" cy="2935154"/>
          </a:xfrm>
          <a:prstGeom prst="rect">
            <a:avLst/>
          </a:prstGeom>
        </p:spPr>
      </p:pic>
      <p:sp>
        <p:nvSpPr>
          <p:cNvPr id="7" name="TextBox 6"/>
          <p:cNvSpPr txBox="1"/>
          <p:nvPr/>
        </p:nvSpPr>
        <p:spPr>
          <a:xfrm>
            <a:off x="6217920" y="4206240"/>
            <a:ext cx="5303520" cy="365760"/>
          </a:xfrm>
          <a:prstGeom prst="rect">
            <a:avLst/>
          </a:prstGeom>
          <a:noFill/>
        </p:spPr>
        <p:txBody>
          <a:bodyPr wrap="square">
            <a:spAutoFit/>
          </a:bodyPr>
          <a:lstStyle/>
          <a:p>
            <a:pPr algn="l">
              <a:defRPr sz="1300" b="1">
                <a:solidFill>
                  <a:srgbClr val="E65100"/>
                </a:solidFill>
                <a:latin typeface="Calibri"/>
              </a:defRPr>
            </a:pPr>
            <a:r>
              <a:t>Known Issue: Capital Layer Inconsistency</a:t>
            </a:r>
          </a:p>
        </p:txBody>
      </p:sp>
      <p:sp>
        <p:nvSpPr>
          <p:cNvPr id="8" name="TextBox 7"/>
          <p:cNvSpPr txBox="1"/>
          <p:nvPr/>
        </p:nvSpPr>
        <p:spPr>
          <a:xfrm>
            <a:off x="6217920" y="4572000"/>
            <a:ext cx="5303520" cy="2011680"/>
          </a:xfrm>
          <a:prstGeom prst="rect">
            <a:avLst/>
          </a:prstGeom>
          <a:noFill/>
        </p:spPr>
        <p:txBody>
          <a:bodyPr wrap="square">
            <a:spAutoFit/>
          </a:bodyPr>
          <a:lstStyle/>
          <a:p>
            <a:pPr>
              <a:spcBef>
                <a:spcPts val="200"/>
              </a:spcBef>
              <a:spcAft>
                <a:spcPts val="400"/>
              </a:spcAft>
            </a:pPr>
            <a:r>
              <a:rPr sz="1000" b="1">
                <a:solidFill>
                  <a:srgbClr val="333333"/>
                </a:solidFill>
                <a:latin typeface="Calibri"/>
              </a:rPr>
              <a:t>Macro K vs. Sector K: </a:t>
            </a:r>
            <a:r>
              <a:rPr sz="1000" b="0">
                <a:solidFill>
                  <a:srgbClr val="333333"/>
                </a:solidFill>
                <a:latin typeface="Calibri"/>
              </a:rPr>
              <a:t>The KLEM aggregate capital stock K (used in Y = AKᵅL¹⁻ᵅ) is a single number per region. But each technology has its own capital_cost ($/kW) embedded in LCOE calculations. These two capital concepts are disconnected.</a:t>
            </a:r>
          </a:p>
          <a:p>
            <a:pPr>
              <a:spcBef>
                <a:spcPts val="200"/>
              </a:spcBef>
              <a:spcAft>
                <a:spcPts val="400"/>
              </a:spcAft>
            </a:pPr>
            <a:r>
              <a:rPr sz="1000" b="1">
                <a:solidFill>
                  <a:srgbClr val="333333"/>
                </a:solidFill>
                <a:latin typeface="Calibri"/>
              </a:rPr>
              <a:t>No adding-up: </a:t>
            </a:r>
            <a:r>
              <a:rPr sz="1000" b="0">
                <a:solidFill>
                  <a:srgbClr val="333333"/>
                </a:solidFill>
                <a:latin typeface="Calibri"/>
              </a:rPr>
              <a:t>Σ(tech capital stocks) ≠ K_macro. The macro K governs GDP and investment, while tech-level capex only affects relative costs in the logit. A power plant investment does not draw down from the macro K pool.</a:t>
            </a:r>
          </a:p>
          <a:p>
            <a:pPr>
              <a:spcBef>
                <a:spcPts val="200"/>
              </a:spcBef>
              <a:spcAft>
                <a:spcPts val="400"/>
              </a:spcAft>
            </a:pPr>
            <a:r>
              <a:rPr sz="1000" b="1">
                <a:solidFill>
                  <a:srgbClr val="333333"/>
                </a:solidFill>
                <a:latin typeface="Calibri"/>
              </a:rPr>
              <a:t>Consequence: </a:t>
            </a:r>
            <a:r>
              <a:rPr sz="1000" b="0">
                <a:solidFill>
                  <a:srgbClr val="333333"/>
                </a:solidFill>
                <a:latin typeface="Calibri"/>
              </a:rPr>
              <a:t>Energy sector investment can expand without crowding out non-energy capital. This overstates the economy's ability to simultaneously grow GDP and invest in clean energy. A proper fix requires either a multi-sector CGE with capital allocation, or an investment budget constraint linking macro I to sector capex.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640080"/>
          </a:xfrm>
          <a:prstGeom prst="rect">
            <a:avLst/>
          </a:prstGeom>
          <a:noFill/>
        </p:spPr>
        <p:txBody>
          <a:bodyPr wrap="square">
            <a:spAutoFit/>
          </a:bodyPr>
          <a:lstStyle/>
          <a:p>
            <a:pPr algn="l">
              <a:defRPr sz="2400" b="1">
                <a:solidFill>
                  <a:srgbClr val="1A237E"/>
                </a:solidFill>
                <a:latin typeface="Calibri"/>
              </a:defRPr>
            </a:pPr>
            <a:r>
              <a:t>Primary Energy Demand — Derived Demand by Sectors</a:t>
            </a:r>
          </a:p>
        </p:txBody>
      </p:sp>
      <p:sp>
        <p:nvSpPr>
          <p:cNvPr id="4" name="TextBox 3"/>
          <p:cNvSpPr txBox="1"/>
          <p:nvPr/>
        </p:nvSpPr>
        <p:spPr>
          <a:xfrm>
            <a:off x="731520" y="1097280"/>
            <a:ext cx="10515600" cy="731520"/>
          </a:xfrm>
          <a:prstGeom prst="rect">
            <a:avLst/>
          </a:prstGeom>
          <a:noFill/>
        </p:spPr>
        <p:txBody>
          <a:bodyPr wrap="square">
            <a:spAutoFit/>
          </a:bodyPr>
          <a:lstStyle/>
          <a:p>
            <a:pPr algn="l">
              <a:defRPr sz="1300" b="0">
                <a:solidFill>
                  <a:srgbClr val="333333"/>
                </a:solidFill>
                <a:latin typeface="Calibri"/>
              </a:defRPr>
            </a:pPr>
            <a:r>
              <a:t>Primary energy demand is not demanded directly — it is derived from final sector demands for energy services. Sectors demand energy carriers (electricity, refined liquids, gas, etc.), and these are traced back through transformation sectors (power generation, refining, hydrogen production) to primary fuel requirements.</a:t>
            </a:r>
          </a:p>
        </p:txBody>
      </p:sp>
      <p:sp>
        <p:nvSpPr>
          <p:cNvPr id="5" name="TextBox 4"/>
          <p:cNvSpPr txBox="1"/>
          <p:nvPr/>
        </p:nvSpPr>
        <p:spPr>
          <a:xfrm>
            <a:off x="731520" y="2011680"/>
            <a:ext cx="5303520" cy="365760"/>
          </a:xfrm>
          <a:prstGeom prst="rect">
            <a:avLst/>
          </a:prstGeom>
          <a:noFill/>
        </p:spPr>
        <p:txBody>
          <a:bodyPr wrap="square">
            <a:spAutoFit/>
          </a:bodyPr>
          <a:lstStyle/>
          <a:p>
            <a:pPr algn="l">
              <a:defRPr sz="1500" b="1">
                <a:solidFill>
                  <a:srgbClr val="2196F3"/>
                </a:solidFill>
                <a:latin typeface="Calibri"/>
              </a:defRPr>
            </a:pPr>
            <a:r>
              <a:t>Nested Demand Tree (per region)</a:t>
            </a:r>
          </a:p>
        </p:txBody>
      </p:sp>
      <p:sp>
        <p:nvSpPr>
          <p:cNvPr id="6" name="TextBox 5"/>
          <p:cNvSpPr txBox="1"/>
          <p:nvPr/>
        </p:nvSpPr>
        <p:spPr>
          <a:xfrm>
            <a:off x="731520" y="2377440"/>
            <a:ext cx="5303520" cy="2743200"/>
          </a:xfrm>
          <a:prstGeom prst="rect">
            <a:avLst/>
          </a:prstGeom>
          <a:noFill/>
        </p:spPr>
        <p:txBody>
          <a:bodyPr wrap="square">
            <a:spAutoFit/>
          </a:bodyPr>
          <a:lstStyle/>
          <a:p>
            <a:pPr>
              <a:spcBef>
                <a:spcPts val="200"/>
              </a:spcBef>
              <a:spcAft>
                <a:spcPts val="400"/>
              </a:spcAft>
            </a:pPr>
            <a:r>
              <a:rPr sz="1100" b="1">
                <a:solidFill>
                  <a:srgbClr val="333333"/>
                </a:solidFill>
                <a:latin typeface="Calibri"/>
              </a:rPr>
              <a:t>Final demand sectors </a:t>
            </a:r>
            <a:r>
              <a:rPr sz="1100" b="0">
                <a:solidFill>
                  <a:srgbClr val="333333"/>
                </a:solidFill>
                <a:latin typeface="Calibri"/>
              </a:rPr>
              <a:t>(GDP-driven total, income elasticity):</a:t>
            </a:r>
          </a:p>
          <a:p>
            <a:pPr>
              <a:spcBef>
                <a:spcPts val="200"/>
              </a:spcBef>
              <a:spcAft>
                <a:spcPts val="400"/>
              </a:spcAft>
            </a:pPr>
            <a:r>
              <a:rPr sz="1100" b="1">
                <a:solidFill>
                  <a:srgbClr val="333333"/>
                </a:solidFill>
                <a:latin typeface="Calibri"/>
              </a:rPr>
              <a:t>  Industry </a:t>
            </a:r>
            <a:r>
              <a:rPr sz="1100" b="0">
                <a:solidFill>
                  <a:srgbClr val="333333"/>
                </a:solidFill>
                <a:latin typeface="Calibri"/>
              </a:rPr>
              <a:t>(ε=0.6): heavy (coal/gas/elec), light (elec/gas), data centers (100% elec)</a:t>
            </a:r>
          </a:p>
          <a:p>
            <a:pPr>
              <a:spcBef>
                <a:spcPts val="200"/>
              </a:spcBef>
              <a:spcAft>
                <a:spcPts val="400"/>
              </a:spcAft>
            </a:pPr>
            <a:r>
              <a:rPr sz="1100" b="1">
                <a:solidFill>
                  <a:srgbClr val="333333"/>
                </a:solidFill>
                <a:latin typeface="Calibri"/>
              </a:rPr>
              <a:t>  Buildings </a:t>
            </a:r>
            <a:r>
              <a:rPr sz="1100" b="0">
                <a:solidFill>
                  <a:srgbClr val="333333"/>
                </a:solidFill>
                <a:latin typeface="Calibri"/>
              </a:rPr>
              <a:t>(ε=0.5): residential (elec/gas/biomass), commercial (elec/gas)</a:t>
            </a:r>
          </a:p>
          <a:p>
            <a:pPr>
              <a:spcBef>
                <a:spcPts val="200"/>
              </a:spcBef>
              <a:spcAft>
                <a:spcPts val="400"/>
              </a:spcAft>
            </a:pPr>
            <a:r>
              <a:rPr sz="1100" b="1">
                <a:solidFill>
                  <a:srgbClr val="333333"/>
                </a:solidFill>
                <a:latin typeface="Calibri"/>
              </a:rPr>
              <a:t>  Transport </a:t>
            </a:r>
            <a:r>
              <a:rPr sz="1100" b="0">
                <a:solidFill>
                  <a:srgbClr val="333333"/>
                </a:solidFill>
                <a:latin typeface="Calibri"/>
              </a:rPr>
              <a:t>(ε=0.7): passenger (ref. liquids/elec), freight (ref. liquids/gas)</a:t>
            </a:r>
          </a:p>
          <a:p>
            <a:pPr>
              <a:spcBef>
                <a:spcPts val="200"/>
              </a:spcBef>
              <a:spcAft>
                <a:spcPts val="400"/>
              </a:spcAft>
            </a:pPr>
            <a:r>
              <a:rPr sz="1100" b="1">
                <a:solidFill>
                  <a:srgbClr val="333333"/>
                </a:solidFill>
                <a:latin typeface="Calibri"/>
              </a:rPr>
              <a:t/>
            </a:r>
            <a:r>
              <a:rPr sz="1100" b="0">
                <a:solidFill>
                  <a:srgbClr val="333333"/>
                </a:solidFill>
                <a:latin typeface="Calibri"/>
              </a:rPr>
              <a:t/>
            </a:r>
          </a:p>
          <a:p>
            <a:pPr>
              <a:spcBef>
                <a:spcPts val="200"/>
              </a:spcBef>
              <a:spcAft>
                <a:spcPts val="400"/>
              </a:spcAft>
            </a:pPr>
            <a:r>
              <a:rPr sz="1100" b="1">
                <a:solidFill>
                  <a:srgbClr val="333333"/>
                </a:solidFill>
                <a:latin typeface="Calibri"/>
              </a:rPr>
              <a:t>Carrier choices via logit: </a:t>
            </a:r>
            <a:r>
              <a:rPr sz="1100" b="0">
                <a:solidFill>
                  <a:srgbClr val="333333"/>
                </a:solidFill>
                <a:latin typeface="Calibri"/>
              </a:rPr>
              <a:t>At each tree node, children compete via relative-preference logit with stock turnover. sᵢ = αᵢ·exp(−k·Pᵢ)·Cᵢᵝ / Σ</a:t>
            </a:r>
          </a:p>
          <a:p>
            <a:pPr>
              <a:spcBef>
                <a:spcPts val="200"/>
              </a:spcBef>
              <a:spcAft>
                <a:spcPts val="400"/>
              </a:spcAft>
            </a:pPr>
            <a:r>
              <a:rPr sz="1100" b="1">
                <a:solidFill>
                  <a:srgbClr val="333333"/>
                </a:solidFill>
                <a:latin typeface="Calibri"/>
              </a:rPr>
              <a:t>6 energy carriers: </a:t>
            </a:r>
            <a:r>
              <a:rPr sz="1100" b="0">
                <a:solidFill>
                  <a:srgbClr val="333333"/>
                </a:solidFill>
                <a:latin typeface="Calibri"/>
              </a:rPr>
              <a:t>coal, refined liquids, gas, electricity, biomass, hydrogen</a:t>
            </a:r>
          </a:p>
        </p:txBody>
      </p:sp>
      <p:sp>
        <p:nvSpPr>
          <p:cNvPr id="7" name="TextBox 6"/>
          <p:cNvSpPr txBox="1"/>
          <p:nvPr/>
        </p:nvSpPr>
        <p:spPr>
          <a:xfrm>
            <a:off x="6400800" y="2011680"/>
            <a:ext cx="5303520" cy="365760"/>
          </a:xfrm>
          <a:prstGeom prst="rect">
            <a:avLst/>
          </a:prstGeom>
          <a:noFill/>
        </p:spPr>
        <p:txBody>
          <a:bodyPr wrap="square">
            <a:spAutoFit/>
          </a:bodyPr>
          <a:lstStyle/>
          <a:p>
            <a:pPr algn="l">
              <a:defRPr sz="1500" b="1">
                <a:solidFill>
                  <a:srgbClr val="2196F3"/>
                </a:solidFill>
                <a:latin typeface="Calibri"/>
              </a:defRPr>
            </a:pPr>
            <a:r>
              <a:t>From Final Demand to Primary Fuel</a:t>
            </a:r>
          </a:p>
        </p:txBody>
      </p:sp>
      <p:sp>
        <p:nvSpPr>
          <p:cNvPr id="8" name="TextBox 7"/>
          <p:cNvSpPr txBox="1"/>
          <p:nvPr/>
        </p:nvSpPr>
        <p:spPr>
          <a:xfrm>
            <a:off x="6400800" y="2377440"/>
            <a:ext cx="5303520" cy="3840480"/>
          </a:xfrm>
          <a:prstGeom prst="rect">
            <a:avLst/>
          </a:prstGeom>
          <a:noFill/>
        </p:spPr>
        <p:txBody>
          <a:bodyPr wrap="square">
            <a:spAutoFit/>
          </a:bodyPr>
          <a:lstStyle/>
          <a:p>
            <a:pPr>
              <a:spcBef>
                <a:spcPts val="200"/>
              </a:spcBef>
              <a:spcAft>
                <a:spcPts val="400"/>
              </a:spcAft>
            </a:pPr>
            <a:r>
              <a:rPr sz="1100" b="1">
                <a:solidFill>
                  <a:srgbClr val="333333"/>
                </a:solidFill>
                <a:latin typeface="Calibri"/>
              </a:rPr>
              <a:t>Step 1 — Sector totals: </a:t>
            </a:r>
            <a:r>
              <a:rPr sz="1100" b="0">
                <a:solidFill>
                  <a:srgbClr val="333333"/>
                </a:solidFill>
                <a:latin typeface="Calibri"/>
              </a:rPr>
              <a:t>Each sector's total demand scales with GDP: E_sector = E_base × (GDP/GDP_base)^(ε). KLEM coupling then rescales all sectors so their sum matches the macro energy envelope.</a:t>
            </a:r>
          </a:p>
          <a:p>
            <a:pPr>
              <a:spcBef>
                <a:spcPts val="200"/>
              </a:spcBef>
              <a:spcAft>
                <a:spcPts val="400"/>
              </a:spcAft>
            </a:pPr>
            <a:r>
              <a:rPr sz="1100" b="1">
                <a:solidFill>
                  <a:srgbClr val="333333"/>
                </a:solidFill>
                <a:latin typeface="Calibri"/>
              </a:rPr>
              <a:t>Step 2 — Carrier allocation: </a:t>
            </a:r>
            <a:r>
              <a:rPr sz="1100" b="0">
                <a:solidFill>
                  <a:srgbClr val="333333"/>
                </a:solidFill>
                <a:latin typeface="Calibri"/>
              </a:rPr>
              <a:t>Within each sector/subsector, logit + stock turnover determines the split across 6 carriers. Result: carrier_demand_EJ per region.</a:t>
            </a:r>
          </a:p>
          <a:p>
            <a:pPr>
              <a:spcBef>
                <a:spcPts val="200"/>
              </a:spcBef>
              <a:spcAft>
                <a:spcPts val="400"/>
              </a:spcAft>
            </a:pPr>
            <a:r>
              <a:rPr sz="1100" b="1">
                <a:solidFill>
                  <a:srgbClr val="333333"/>
                </a:solidFill>
                <a:latin typeface="Calibri"/>
              </a:rPr>
              <a:t>Step 3 — Secondary transformation: </a:t>
            </a:r>
            <a:r>
              <a:rPr sz="1100" b="0">
                <a:solidFill>
                  <a:srgbClr val="333333"/>
                </a:solidFill>
                <a:latin typeface="Calibri"/>
              </a:rPr>
              <a:t>• Electricity demand → 8-tech generation mix (coal, gas CC, oil, nuclear, hydro, wind, solar, biomass) → fuel inputs via efficiency
• Refined liquids demand → oil refining (η=0.85) → crude oil input
• Hydrogen demand → SMR (gas) + electrolysis (elec) → gas/elec inputs</a:t>
            </a:r>
          </a:p>
          <a:p>
            <a:pPr>
              <a:spcBef>
                <a:spcPts val="200"/>
              </a:spcBef>
              <a:spcAft>
                <a:spcPts val="400"/>
              </a:spcAft>
            </a:pPr>
            <a:r>
              <a:rPr sz="1100" b="1">
                <a:solidFill>
                  <a:srgbClr val="333333"/>
                </a:solidFill>
                <a:latin typeface="Calibri"/>
              </a:rPr>
              <a:t>Step 4 — Primary fuel aggregation: </a:t>
            </a:r>
            <a:r>
              <a:rPr sz="1100" b="0">
                <a:solidFill>
                  <a:srgbClr val="333333"/>
                </a:solidFill>
                <a:latin typeface="Calibri"/>
              </a:rPr>
              <a:t>Sum all fuel inputs across final demand + electricity + refining + hydrogen:
  coal = direct_coal + elec_coal_input
  oil = refining_oil_input + elec_oil_input
  gas = direct_gas + elec_gas_input + h2_smr_gas_input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640080"/>
          </a:xfrm>
          <a:prstGeom prst="rect">
            <a:avLst/>
          </a:prstGeom>
          <a:noFill/>
        </p:spPr>
        <p:txBody>
          <a:bodyPr wrap="square">
            <a:spAutoFit/>
          </a:bodyPr>
          <a:lstStyle/>
          <a:p>
            <a:pPr algn="l">
              <a:defRPr sz="2400" b="1">
                <a:solidFill>
                  <a:srgbClr val="1A237E"/>
                </a:solidFill>
                <a:latin typeface="Calibri"/>
              </a:defRPr>
            </a:pPr>
            <a:r>
              <a:t>Primary Energy Supply — Resource Curves &amp; Trade Clearing</a:t>
            </a:r>
          </a:p>
        </p:txBody>
      </p:sp>
      <p:sp>
        <p:nvSpPr>
          <p:cNvPr id="4" name="TextBox 3"/>
          <p:cNvSpPr txBox="1"/>
          <p:nvPr/>
        </p:nvSpPr>
        <p:spPr>
          <a:xfrm>
            <a:off x="731520" y="1097280"/>
            <a:ext cx="5303520" cy="365760"/>
          </a:xfrm>
          <a:prstGeom prst="rect">
            <a:avLst/>
          </a:prstGeom>
          <a:noFill/>
        </p:spPr>
        <p:txBody>
          <a:bodyPr wrap="square">
            <a:spAutoFit/>
          </a:bodyPr>
          <a:lstStyle/>
          <a:p>
            <a:pPr algn="l">
              <a:defRPr sz="1500" b="1">
                <a:solidFill>
                  <a:srgbClr val="2196F3"/>
                </a:solidFill>
                <a:latin typeface="Calibri"/>
              </a:defRPr>
            </a:pPr>
            <a:r>
              <a:t>Grade-Based Supply Curves (per region, per fuel)</a:t>
            </a:r>
          </a:p>
        </p:txBody>
      </p:sp>
      <p:sp>
        <p:nvSpPr>
          <p:cNvPr id="5" name="TextBox 4"/>
          <p:cNvSpPr txBox="1"/>
          <p:nvPr/>
        </p:nvSpPr>
        <p:spPr>
          <a:xfrm>
            <a:off x="731520" y="1463040"/>
            <a:ext cx="5303520" cy="3200400"/>
          </a:xfrm>
          <a:prstGeom prst="rect">
            <a:avLst/>
          </a:prstGeom>
          <a:noFill/>
        </p:spPr>
        <p:txBody>
          <a:bodyPr wrap="square">
            <a:spAutoFit/>
          </a:bodyPr>
          <a:lstStyle/>
          <a:p>
            <a:pPr>
              <a:spcBef>
                <a:spcPts val="200"/>
              </a:spcBef>
              <a:spcAft>
                <a:spcPts val="400"/>
              </a:spcAft>
            </a:pPr>
            <a:r>
              <a:rPr sz="1100" b="1">
                <a:solidFill>
                  <a:srgbClr val="333333"/>
                </a:solidFill>
                <a:latin typeface="Calibri"/>
              </a:rPr>
              <a:t>GCAM supply curves: </a:t>
            </a:r>
            <a:r>
              <a:rPr sz="1100" b="0">
                <a:solidFill>
                  <a:srgbClr val="333333"/>
                </a:solidFill>
                <a:latin typeface="Calibri"/>
              </a:rPr>
              <a:t>Fossil fuels (coal, oil, gas) modeled as multi-grade supply curves with increasing extraction cost. Each grade has a resource amount (EJ) and an extraction cost ($/GJ). Original data from GCAM R32 regions.</a:t>
            </a:r>
          </a:p>
          <a:p>
            <a:pPr>
              <a:spcBef>
                <a:spcPts val="200"/>
              </a:spcBef>
              <a:spcAft>
                <a:spcPts val="400"/>
              </a:spcAft>
            </a:pPr>
            <a:r>
              <a:rPr sz="1100" b="1">
                <a:solidFill>
                  <a:srgbClr val="333333"/>
                </a:solidFill>
                <a:latin typeface="Calibri"/>
              </a:rPr>
              <a:t>Aggregation pipeline: </a:t>
            </a:r>
            <a:r>
              <a:rPr sz="1100" b="0">
                <a:solidFill>
                  <a:srgbClr val="333333"/>
                </a:solidFill>
                <a:latin typeface="Calibri"/>
              </a:rPr>
              <a:t>R32 grades → country-level (GDP-share downscaling) → R10 aggregation. Result: ~3–5 grades per fuel per R10 region.</a:t>
            </a:r>
          </a:p>
          <a:p>
            <a:pPr>
              <a:spcBef>
                <a:spcPts val="200"/>
              </a:spcBef>
              <a:spcAft>
                <a:spcPts val="400"/>
              </a:spcAft>
            </a:pPr>
            <a:r>
              <a:rPr sz="1100" b="1">
                <a:solidFill>
                  <a:srgbClr val="333333"/>
                </a:solidFill>
                <a:latin typeface="Calibri"/>
              </a:rPr>
              <a:t>Piecewise-linear supply: </a:t>
            </a:r>
            <a:r>
              <a:rPr sz="1100" b="0">
                <a:solidFill>
                  <a:srgbClr val="333333"/>
                </a:solidFill>
                <a:latin typeface="Calibri"/>
              </a:rPr>
              <a:t>production_at_price(p) ramps linearly between grade boundaries (first grade ramps from p=0). This eliminates step-function discontinuities that cause solver oscillation.</a:t>
            </a:r>
          </a:p>
          <a:p>
            <a:pPr>
              <a:spcBef>
                <a:spcPts val="200"/>
              </a:spcBef>
              <a:spcAft>
                <a:spcPts val="400"/>
              </a:spcAft>
            </a:pPr>
            <a:r>
              <a:rPr sz="1100" b="1">
                <a:solidFill>
                  <a:srgbClr val="333333"/>
                </a:solidFill>
                <a:latin typeface="Calibri"/>
              </a:rPr>
              <a:t>Production cap: </a:t>
            </a:r>
            <a:r>
              <a:rPr sz="1100" b="0">
                <a:solidFill>
                  <a:srgbClr val="333333"/>
                </a:solidFill>
                <a:latin typeface="Calibri"/>
              </a:rPr>
              <a:t>max_annual_production = 3× base-year production per region. Prevents unrealistic instantaneous scaling.</a:t>
            </a:r>
          </a:p>
          <a:p>
            <a:pPr>
              <a:spcBef>
                <a:spcPts val="200"/>
              </a:spcBef>
              <a:spcAft>
                <a:spcPts val="400"/>
              </a:spcAft>
            </a:pPr>
            <a:r>
              <a:rPr sz="1100" b="1">
                <a:solidFill>
                  <a:srgbClr val="333333"/>
                </a:solidFill>
                <a:latin typeface="Calibri"/>
              </a:rPr>
              <a:t>Renewables: </a:t>
            </a:r>
            <a:r>
              <a:rPr sz="1100" b="0">
                <a:solidFill>
                  <a:srgbClr val="333333"/>
                </a:solidFill>
                <a:latin typeface="Calibri"/>
              </a:rPr>
              <a:t>Wind, solar, hydro, biomass — no resource depletion. Cost determined entirely by technology capital cost + learning curves. Supply is effectively unlimited at the technology's LCOE.</a:t>
            </a:r>
          </a:p>
        </p:txBody>
      </p:sp>
      <p:sp>
        <p:nvSpPr>
          <p:cNvPr id="6" name="TextBox 5"/>
          <p:cNvSpPr txBox="1"/>
          <p:nvPr/>
        </p:nvSpPr>
        <p:spPr>
          <a:xfrm>
            <a:off x="6400800" y="1097280"/>
            <a:ext cx="5303520" cy="365760"/>
          </a:xfrm>
          <a:prstGeom prst="rect">
            <a:avLst/>
          </a:prstGeom>
          <a:noFill/>
        </p:spPr>
        <p:txBody>
          <a:bodyPr wrap="square">
            <a:spAutoFit/>
          </a:bodyPr>
          <a:lstStyle/>
          <a:p>
            <a:pPr algn="l">
              <a:defRPr sz="1500" b="1">
                <a:solidFill>
                  <a:srgbClr val="2196F3"/>
                </a:solidFill>
                <a:latin typeface="Calibri"/>
              </a:defRPr>
            </a:pPr>
            <a:r>
              <a:t>Global Market Clearing (coal, oil, gas)</a:t>
            </a:r>
          </a:p>
        </p:txBody>
      </p:sp>
      <p:sp>
        <p:nvSpPr>
          <p:cNvPr id="7" name="TextBox 6"/>
          <p:cNvSpPr txBox="1"/>
          <p:nvPr/>
        </p:nvSpPr>
        <p:spPr>
          <a:xfrm>
            <a:off x="6400800" y="1463040"/>
            <a:ext cx="5303520" cy="3200400"/>
          </a:xfrm>
          <a:prstGeom prst="rect">
            <a:avLst/>
          </a:prstGeom>
          <a:noFill/>
        </p:spPr>
        <p:txBody>
          <a:bodyPr wrap="square">
            <a:spAutoFit/>
          </a:bodyPr>
          <a:lstStyle/>
          <a:p>
            <a:pPr>
              <a:spcBef>
                <a:spcPts val="200"/>
              </a:spcBef>
              <a:spcAft>
                <a:spcPts val="400"/>
              </a:spcAft>
            </a:pPr>
            <a:r>
              <a:rPr sz="1100" b="1">
                <a:solidFill>
                  <a:srgbClr val="333333"/>
                </a:solidFill>
                <a:latin typeface="Calibri"/>
              </a:rPr>
              <a:t>Bisection algorithm: </a:t>
            </a:r>
            <a:r>
              <a:rPr sz="1100" b="0">
                <a:solidFill>
                  <a:srgbClr val="333333"/>
                </a:solidFill>
                <a:latin typeface="Calibri"/>
              </a:rPr>
              <a:t>For each fuel, find world price p* such that Σ_r supply_r(p*) = Σ_r demand_r(p*). Price search over [FLOOR=0.1, CEILING=50] $/GJ, tolerance 0.01 $/GJ.</a:t>
            </a:r>
          </a:p>
          <a:p>
            <a:pPr>
              <a:spcBef>
                <a:spcPts val="200"/>
              </a:spcBef>
              <a:spcAft>
                <a:spcPts val="400"/>
              </a:spcAft>
            </a:pPr>
            <a:r>
              <a:rPr sz="1100" b="1">
                <a:solidFill>
                  <a:srgbClr val="333333"/>
                </a:solidFill>
                <a:latin typeface="Calibri"/>
              </a:rPr>
              <a:t>Calibration rents: </a:t>
            </a:r>
            <a:r>
              <a:rPr sz="1100" b="0">
                <a:solidFill>
                  <a:srgbClr val="333333"/>
                </a:solidFill>
                <a:latin typeface="Calibri"/>
              </a:rPr>
              <a:t>At base year, observed price often exceeds the supply-curve clearing price (market power, transport costs, taxes). Rent = observed − cleared, locked at 2025, passed as price_adder into bisection. Supply evaluated at extraction_cost + rent; world_price includes rent.</a:t>
            </a:r>
          </a:p>
          <a:p>
            <a:pPr>
              <a:spcBef>
                <a:spcPts val="200"/>
              </a:spcBef>
              <a:spcAft>
                <a:spcPts val="400"/>
              </a:spcAft>
            </a:pPr>
            <a:r>
              <a:rPr sz="1100" b="1">
                <a:solidFill>
                  <a:srgbClr val="333333"/>
                </a:solidFill>
                <a:latin typeface="Calibri"/>
              </a:rPr>
              <a:t>Stabilization mechanisms: </a:t>
            </a:r>
            <a:r>
              <a:rPr sz="1100" b="0">
                <a:solidFill>
                  <a:srgbClr val="333333"/>
                </a:solidFill>
                <a:latin typeface="Calibri"/>
              </a:rPr>
              <a:t>• Inter-period price clamping: max 30% price change per 5-year period
• Production inertia: max 30% decline per region per period (growth unconstrained)
• Demand-trade iteration: up to 10 rounds with 50% damping per period
• Warm-start: previous period's cleared prices seed next period's bisection</a:t>
            </a:r>
          </a:p>
          <a:p>
            <a:pPr>
              <a:spcBef>
                <a:spcPts val="200"/>
              </a:spcBef>
              <a:spcAft>
                <a:spcPts val="400"/>
              </a:spcAft>
            </a:pPr>
            <a:r>
              <a:rPr sz="1100" b="1">
                <a:solidFill>
                  <a:srgbClr val="333333"/>
                </a:solidFill>
                <a:latin typeface="Calibri"/>
              </a:rPr>
              <a:t>Net exports: </a:t>
            </a:r>
            <a:r>
              <a:rPr sz="1100" b="0">
                <a:solidFill>
                  <a:srgbClr val="333333"/>
                </a:solidFill>
                <a:latin typeface="Calibri"/>
              </a:rPr>
              <a:t>net_exports_r = production_r(p*) − demand_r. Positive = exporter, negative = importer.</a:t>
            </a:r>
          </a:p>
        </p:txBody>
      </p:sp>
      <p:pic>
        <p:nvPicPr>
          <p:cNvPr id="8" name="Picture 7" descr="trade_world_prices.png"/>
          <p:cNvPicPr>
            <a:picLocks noChangeAspect="1"/>
          </p:cNvPicPr>
          <p:nvPr/>
        </p:nvPicPr>
        <p:blipFill>
          <a:blip r:embed="rId2"/>
          <a:stretch>
            <a:fillRect/>
          </a:stretch>
        </p:blipFill>
        <p:spPr>
          <a:xfrm>
            <a:off x="731520" y="4572000"/>
            <a:ext cx="5029200" cy="2783336"/>
          </a:xfrm>
          <a:prstGeom prst="rect">
            <a:avLst/>
          </a:prstGeom>
        </p:spPr>
      </p:pic>
      <p:pic>
        <p:nvPicPr>
          <p:cNvPr id="9" name="Picture 8" descr="trade_net_exports.png"/>
          <p:cNvPicPr>
            <a:picLocks noChangeAspect="1"/>
          </p:cNvPicPr>
          <p:nvPr/>
        </p:nvPicPr>
        <p:blipFill>
          <a:blip r:embed="rId3"/>
          <a:stretch>
            <a:fillRect/>
          </a:stretch>
        </p:blipFill>
        <p:spPr>
          <a:xfrm>
            <a:off x="6400800" y="4572000"/>
            <a:ext cx="5029200" cy="278333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